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7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730"/>
                </a:solidFill>
                <a:latin typeface="+mn-lt"/>
              </a:rPr>
              <a:t>Attacker’s optimal mix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Attacker</c:v>
                </c:pt>
              </c:strCache>
            </c:strRef>
          </c:tx>
          <c:spPr>
            <a:solidFill>
              <a:srgbClr val="E557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7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Web server</c:v>
                  </c:pt>
                  <c:pt idx="1">
                    <c:v>Phishing</c:v>
                  </c:pt>
                  <c:pt idx="2">
                    <c:v>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54.1</c:v>
                </c:pt>
                <c:pt idx="1">
                  <c:v>39.8</c:v>
                </c:pt>
                <c:pt idx="2">
                  <c:v>6.1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17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7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7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730"/>
                </a:solidFill>
                <a:latin typeface="+mn-lt"/>
              </a:rPr>
              <a:t>Defender’s optimal mix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Defender</c:v>
                </c:pt>
              </c:strCache>
            </c:strRef>
          </c:tx>
          <c:spPr>
            <a:solidFill>
              <a:srgbClr val="2F6FD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7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Firewall</c:v>
                  </c:pt>
                  <c:pt idx="1">
                    <c:v>MFA</c:v>
                  </c:pt>
                  <c:pt idx="2">
                    <c:v>Monitoring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37.8</c:v>
                </c:pt>
                <c:pt idx="1">
                  <c:v>40.8</c:v>
                </c:pt>
                <c:pt idx="2">
                  <c:v>21.4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17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7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yourself: Aarushi Jain.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Strategies computed by solving the linear program for the illustrative matrix: attacker p = (0.541, 0.398, 0.061); defender q = (0.378, 0.408, 0.214); value = 1.092. Add screenshots of the running dashboard here during the live demo (heatmap, scenario comparison: baseline, stronger phishing resistance, enhanced monitoring).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Aarushi Jain  |  Game-Theoretic Cybersecurity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Aarushi Jain  |  Game-Theoretic Cybersecurity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large"/>
          <p:cNvSpPr/>
          <p:nvPr/>
        </p:nvSpPr>
        <p:spPr>
          <a:xfrm>
            <a:off x="6309360" y="73152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ircle teal"/>
          <p:cNvSpPr/>
          <p:nvPr/>
        </p:nvSpPr>
        <p:spPr>
          <a:xfrm>
            <a:off x="7315200" y="265176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ircle small"/>
          <p:cNvSpPr/>
          <p:nvPr/>
        </p:nvSpPr>
        <p:spPr>
          <a:xfrm>
            <a:off x="6492240" y="31089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hield icon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417320"/>
            <a:ext cx="914400" cy="914400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548640" y="822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Game-Theoretic Analysis of Cyber Attack and Defense Strategies</a:t>
            </a:r>
            <a:endParaRPr lang="en-US" sz="3600" dirty="0"/>
          </a:p>
        </p:txBody>
      </p:sp>
      <p:sp>
        <p:nvSpPr>
          <p:cNvPr id="7" name="Subtitle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Python-based strategic cybersecurity simulator</a:t>
            </a:r>
            <a:endParaRPr lang="en-US" sz="1800" dirty="0"/>
          </a:p>
        </p:txBody>
      </p:sp>
      <p:sp>
        <p:nvSpPr>
          <p:cNvPr id="8" name="Label"/>
          <p:cNvSpPr txBox="1"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5"/>
                </a:solidFill>
              </a:rPr>
              <a:t>PROJECT PRESENTATION</a:t>
            </a:r>
            <a:endParaRPr lang="en-US" sz="1200" dirty="0"/>
          </a:p>
        </p:txBody>
      </p:sp>
      <p:sp>
        <p:nvSpPr>
          <p:cNvPr id="9" name="Presenter name"/>
          <p:cNvSpPr txBox="1"/>
          <p:nvPr/>
        </p:nvSpPr>
        <p:spPr>
          <a:xfrm>
            <a:off x="5486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Aarushi Jain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 Limited resources"/>
          <p:cNvSpPr/>
          <p:nvPr/>
        </p:nvSpPr>
        <p:spPr>
          <a:xfrm>
            <a:off x="45720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Limited resources circle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5" name="Icon Limited resources" descr="Icon Limited resou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68780"/>
            <a:ext cx="320040" cy="320040"/>
          </a:xfrm>
          <a:prstGeom prst="rect">
            <a:avLst/>
          </a:prstGeom>
        </p:spPr>
      </p:pic>
      <p:sp>
        <p:nvSpPr>
          <p:cNvPr id="6" name="Heading Limited resources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Limited resources</a:t>
            </a:r>
            <a:endParaRPr lang="en-US" sz="1800" dirty="0"/>
          </a:p>
        </p:txBody>
      </p:sp>
      <p:sp>
        <p:nvSpPr>
          <p:cNvPr id="7" name="Text Limited resources"/>
          <p:cNvSpPr txBox="1"/>
          <p:nvPr/>
        </p:nvSpPr>
        <p:spPr>
          <a:xfrm>
            <a:off x="68580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Attackers and defenders make competing decisions under tight constraints.</a:t>
            </a:r>
            <a:endParaRPr lang="en-US" sz="1400" dirty="0"/>
          </a:p>
        </p:txBody>
      </p:sp>
      <p:sp>
        <p:nvSpPr>
          <p:cNvPr id="8" name="Card Adaptive adversary"/>
          <p:cNvSpPr/>
          <p:nvPr/>
        </p:nvSpPr>
        <p:spPr>
          <a:xfrm>
            <a:off x="32918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Adaptive adversary circle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rgbClr val="E5575B"/>
          </a:solidFill>
          <a:ln w="12700">
            <a:solidFill>
              <a:srgbClr val="E5575B"/>
            </a:solidFill>
            <a:prstDash val="solid"/>
          </a:ln>
        </p:spPr>
      </p:sp>
      <p:pic>
        <p:nvPicPr>
          <p:cNvPr id="10" name="Icon Adaptive adversary" descr="Icon Adaptive adversa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668780"/>
            <a:ext cx="320040" cy="320040"/>
          </a:xfrm>
          <a:prstGeom prst="rect">
            <a:avLst/>
          </a:prstGeom>
        </p:spPr>
      </p:pic>
      <p:sp>
        <p:nvSpPr>
          <p:cNvPr id="11" name="Heading Adaptive adversary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Adaptive adversary</a:t>
            </a:r>
            <a:endParaRPr lang="en-US" sz="1800" dirty="0"/>
          </a:p>
        </p:txBody>
      </p:sp>
      <p:sp>
        <p:nvSpPr>
          <p:cNvPr id="12" name="Text Adaptive adversary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Defenders must choose controls while anticipating how an attacker will respond.</a:t>
            </a:r>
            <a:endParaRPr lang="en-US" sz="1400" dirty="0"/>
          </a:p>
        </p:txBody>
      </p:sp>
      <p:sp>
        <p:nvSpPr>
          <p:cNvPr id="13" name="Card Formal comparison"/>
          <p:cNvSpPr/>
          <p:nvPr/>
        </p:nvSpPr>
        <p:spPr>
          <a:xfrm>
            <a:off x="612648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Formal comparison circle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pic>
        <p:nvPicPr>
          <p:cNvPr id="15" name="Icon Formal comparison" descr="Icon Formal comparis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668780"/>
            <a:ext cx="320040" cy="320040"/>
          </a:xfrm>
          <a:prstGeom prst="rect">
            <a:avLst/>
          </a:prstGeom>
        </p:spPr>
      </p:pic>
      <p:sp>
        <p:nvSpPr>
          <p:cNvPr id="16" name="Heading Formal comparison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Formal comparison</a:t>
            </a:r>
            <a:endParaRPr lang="en-US" sz="1800" dirty="0"/>
          </a:p>
        </p:txBody>
      </p:sp>
      <p:sp>
        <p:nvSpPr>
          <p:cNvPr id="17" name="Text Formal comparison"/>
          <p:cNvSpPr txBox="1"/>
          <p:nvPr/>
        </p:nvSpPr>
        <p:spPr>
          <a:xfrm>
            <a:off x="635508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Game theory compares strategic choices and their expected outcomes.</a:t>
            </a:r>
            <a:endParaRPr lang="en-US" sz="1400" dirty="0"/>
          </a:p>
        </p:txBody>
      </p:sp>
      <p:sp>
        <p:nvSpPr>
          <p:cNvPr id="18" name="Key question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Key question: which defensive mix limits what a rational attacker can gain?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280160"/>
            <a:ext cx="3977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circle 1"/>
          <p:cNvSpPr/>
          <p:nvPr/>
        </p:nvSpPr>
        <p:spPr>
          <a:xfrm>
            <a:off x="68580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Objective 1"/>
          <p:cNvSpPr txBox="1"/>
          <p:nvPr/>
        </p:nvSpPr>
        <p:spPr>
          <a:xfrm>
            <a:off x="1508760" y="1417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Represent attacker and defender actions as strategies in a finite game.</a:t>
            </a:r>
            <a:endParaRPr lang="en-US" sz="1400" dirty="0"/>
          </a:p>
        </p:txBody>
      </p:sp>
      <p:sp>
        <p:nvSpPr>
          <p:cNvPr id="7" name="Objective card 2"/>
          <p:cNvSpPr/>
          <p:nvPr/>
        </p:nvSpPr>
        <p:spPr>
          <a:xfrm>
            <a:off x="4709160" y="1280160"/>
            <a:ext cx="3977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circle 2"/>
          <p:cNvSpPr/>
          <p:nvPr/>
        </p:nvSpPr>
        <p:spPr>
          <a:xfrm>
            <a:off x="493776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49377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Objective 2"/>
          <p:cNvSpPr txBox="1"/>
          <p:nvPr/>
        </p:nvSpPr>
        <p:spPr>
          <a:xfrm>
            <a:off x="5760720" y="1417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payoff matrix capturing hypothetical utility for each action pair.</a:t>
            </a:r>
            <a:endParaRPr lang="en-US" sz="1400" dirty="0"/>
          </a:p>
        </p:txBody>
      </p:sp>
      <p:sp>
        <p:nvSpPr>
          <p:cNvPr id="11" name="Objective card 3"/>
          <p:cNvSpPr/>
          <p:nvPr/>
        </p:nvSpPr>
        <p:spPr>
          <a:xfrm>
            <a:off x="457200" y="2834640"/>
            <a:ext cx="3977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ber circle 3"/>
          <p:cNvSpPr/>
          <p:nvPr/>
        </p:nvSpPr>
        <p:spPr>
          <a:xfrm>
            <a:off x="685800" y="3200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ber 3"/>
          <p:cNvSpPr txBox="1"/>
          <p:nvPr/>
        </p:nvSpPr>
        <p:spPr>
          <a:xfrm>
            <a:off x="68580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Objective 3"/>
          <p:cNvSpPr txBox="1"/>
          <p:nvPr/>
        </p:nvSpPr>
        <p:spPr>
          <a:xfrm>
            <a:off x="1508760" y="29718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optimal mixed strategies and equilibrium payoff using linear programming.</a:t>
            </a:r>
            <a:endParaRPr lang="en-US" sz="1400" dirty="0"/>
          </a:p>
        </p:txBody>
      </p:sp>
      <p:sp>
        <p:nvSpPr>
          <p:cNvPr id="15" name="Objective card 4"/>
          <p:cNvSpPr/>
          <p:nvPr/>
        </p:nvSpPr>
        <p:spPr>
          <a:xfrm>
            <a:off x="4709160" y="2834640"/>
            <a:ext cx="3977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 circle 4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ber 4"/>
          <p:cNvSpPr txBox="1"/>
          <p:nvPr/>
        </p:nvSpPr>
        <p:spPr>
          <a:xfrm>
            <a:off x="493776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Objective 4"/>
          <p:cNvSpPr txBox="1"/>
          <p:nvPr/>
        </p:nvSpPr>
        <p:spPr>
          <a:xfrm>
            <a:off x="5760720" y="29718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Visualize payoffs and compare defensive scenarios in an interactive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Game-Theoretic Model</a:t>
            </a:r>
            <a:endParaRPr lang="en-US" sz="3400" dirty="0"/>
          </a:p>
        </p:txBody>
      </p:sp>
      <p:sp>
        <p:nvSpPr>
          <p:cNvPr id="3" name="Attacker card"/>
          <p:cNvSpPr/>
          <p:nvPr/>
        </p:nvSpPr>
        <p:spPr>
          <a:xfrm>
            <a:off x="457200" y="1280160"/>
            <a:ext cx="35661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ttacker icon circl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E5575B"/>
          </a:solidFill>
          <a:ln w="12700">
            <a:solidFill>
              <a:srgbClr val="E5575B"/>
            </a:solidFill>
            <a:prstDash val="solid"/>
          </a:ln>
        </p:spPr>
      </p:sp>
      <p:pic>
        <p:nvPicPr>
          <p:cNvPr id="5" name="Attacker icon" descr="Attack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6" name="Attacker heading"/>
          <p:cNvSpPr txBox="1"/>
          <p:nvPr/>
        </p:nvSpPr>
        <p:spPr>
          <a:xfrm>
            <a:off x="13716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Attacker strategies</a:t>
            </a:r>
            <a:endParaRPr lang="en-US" sz="1800" dirty="0"/>
          </a:p>
        </p:txBody>
      </p:sp>
      <p:sp>
        <p:nvSpPr>
          <p:cNvPr id="7" name="Attacker chip 1"/>
          <p:cNvSpPr/>
          <p:nvPr/>
        </p:nvSpPr>
        <p:spPr>
          <a:xfrm>
            <a:off x="685800" y="219456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Attacker chip icon 1" descr="Web server targe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95144"/>
            <a:ext cx="210312" cy="210312"/>
          </a:xfrm>
          <a:prstGeom prst="rect">
            <a:avLst/>
          </a:prstGeom>
        </p:spPr>
      </p:pic>
      <p:sp>
        <p:nvSpPr>
          <p:cNvPr id="9" name="Attacker strategy 1"/>
          <p:cNvSpPr txBox="1"/>
          <p:nvPr/>
        </p:nvSpPr>
        <p:spPr>
          <a:xfrm>
            <a:off x="118872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server targeting</a:t>
            </a:r>
            <a:endParaRPr lang="en-US" sz="1400" dirty="0"/>
          </a:p>
        </p:txBody>
      </p:sp>
      <p:sp>
        <p:nvSpPr>
          <p:cNvPr id="10" name="Attacker chip 2"/>
          <p:cNvSpPr/>
          <p:nvPr/>
        </p:nvSpPr>
        <p:spPr>
          <a:xfrm>
            <a:off x="685800" y="269748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Attacker chip icon 2" descr="Phishing attem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98064"/>
            <a:ext cx="210312" cy="210312"/>
          </a:xfrm>
          <a:prstGeom prst="rect">
            <a:avLst/>
          </a:prstGeom>
        </p:spPr>
      </p:pic>
      <p:sp>
        <p:nvSpPr>
          <p:cNvPr id="12" name="Attacker strategy 2"/>
          <p:cNvSpPr txBox="1"/>
          <p:nvPr/>
        </p:nvSpPr>
        <p:spPr>
          <a:xfrm>
            <a:off x="118872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Phishing attempt</a:t>
            </a:r>
            <a:endParaRPr lang="en-US" sz="1400" dirty="0"/>
          </a:p>
        </p:txBody>
      </p:sp>
      <p:sp>
        <p:nvSpPr>
          <p:cNvPr id="13" name="Attacker chip 3"/>
          <p:cNvSpPr/>
          <p:nvPr/>
        </p:nvSpPr>
        <p:spPr>
          <a:xfrm>
            <a:off x="685800" y="320040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Attacker chip icon 3" descr="Denial of serv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00984"/>
            <a:ext cx="210312" cy="210312"/>
          </a:xfrm>
          <a:prstGeom prst="rect">
            <a:avLst/>
          </a:prstGeom>
        </p:spPr>
      </p:pic>
      <p:sp>
        <p:nvSpPr>
          <p:cNvPr id="15" name="Attacker strategy 3"/>
          <p:cNvSpPr txBox="1"/>
          <p:nvPr/>
        </p:nvSpPr>
        <p:spPr>
          <a:xfrm>
            <a:off x="118872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Denial of service</a:t>
            </a:r>
            <a:endParaRPr lang="en-US" sz="1400" dirty="0"/>
          </a:p>
        </p:txBody>
      </p:sp>
      <p:sp>
        <p:nvSpPr>
          <p:cNvPr id="16" name="Defender card"/>
          <p:cNvSpPr/>
          <p:nvPr/>
        </p:nvSpPr>
        <p:spPr>
          <a:xfrm>
            <a:off x="5120640" y="1280160"/>
            <a:ext cx="35661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efender icon circle"/>
          <p:cNvSpPr/>
          <p:nvPr/>
        </p:nvSpPr>
        <p:spPr>
          <a:xfrm>
            <a:off x="5349240" y="1463040"/>
            <a:ext cx="548640" cy="54864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18" name="Defender icon" descr="Defende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600200"/>
            <a:ext cx="274320" cy="274320"/>
          </a:xfrm>
          <a:prstGeom prst="rect">
            <a:avLst/>
          </a:prstGeom>
        </p:spPr>
      </p:pic>
      <p:sp>
        <p:nvSpPr>
          <p:cNvPr id="19" name="Defender heading"/>
          <p:cNvSpPr txBox="1"/>
          <p:nvPr/>
        </p:nvSpPr>
        <p:spPr>
          <a:xfrm>
            <a:off x="603504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Defender strategies</a:t>
            </a:r>
            <a:endParaRPr lang="en-US" sz="1800" dirty="0"/>
          </a:p>
        </p:txBody>
      </p:sp>
      <p:sp>
        <p:nvSpPr>
          <p:cNvPr id="20" name="Defender chip 1"/>
          <p:cNvSpPr/>
          <p:nvPr/>
        </p:nvSpPr>
        <p:spPr>
          <a:xfrm>
            <a:off x="5349240" y="219456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Defender chip icon 1" descr="Firewa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295144"/>
            <a:ext cx="210312" cy="210312"/>
          </a:xfrm>
          <a:prstGeom prst="rect">
            <a:avLst/>
          </a:prstGeom>
        </p:spPr>
      </p:pic>
      <p:sp>
        <p:nvSpPr>
          <p:cNvPr id="22" name="Defender strategy 1"/>
          <p:cNvSpPr txBox="1"/>
          <p:nvPr/>
        </p:nvSpPr>
        <p:spPr>
          <a:xfrm>
            <a:off x="585216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Firewall</a:t>
            </a:r>
            <a:endParaRPr lang="en-US" sz="1400" dirty="0"/>
          </a:p>
        </p:txBody>
      </p:sp>
      <p:sp>
        <p:nvSpPr>
          <p:cNvPr id="23" name="Defender chip 2"/>
          <p:cNvSpPr/>
          <p:nvPr/>
        </p:nvSpPr>
        <p:spPr>
          <a:xfrm>
            <a:off x="5349240" y="269748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4" name="Defender chip icon 2" descr="Multi-factor authentica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798064"/>
            <a:ext cx="210312" cy="210312"/>
          </a:xfrm>
          <a:prstGeom prst="rect">
            <a:avLst/>
          </a:prstGeom>
        </p:spPr>
      </p:pic>
      <p:sp>
        <p:nvSpPr>
          <p:cNvPr id="25" name="Defender strategy 2"/>
          <p:cNvSpPr txBox="1"/>
          <p:nvPr/>
        </p:nvSpPr>
        <p:spPr>
          <a:xfrm>
            <a:off x="585216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Multi-factor authentication</a:t>
            </a:r>
            <a:endParaRPr lang="en-US" sz="1400" dirty="0"/>
          </a:p>
        </p:txBody>
      </p:sp>
      <p:sp>
        <p:nvSpPr>
          <p:cNvPr id="26" name="Defender chip 3"/>
          <p:cNvSpPr/>
          <p:nvPr/>
        </p:nvSpPr>
        <p:spPr>
          <a:xfrm>
            <a:off x="5349240" y="320040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7" name="Defender chip icon 3" descr="Monitor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300984"/>
            <a:ext cx="210312" cy="210312"/>
          </a:xfrm>
          <a:prstGeom prst="rect">
            <a:avLst/>
          </a:prstGeom>
        </p:spPr>
      </p:pic>
      <p:sp>
        <p:nvSpPr>
          <p:cNvPr id="28" name="Defender strategy 3"/>
          <p:cNvSpPr txBox="1"/>
          <p:nvPr/>
        </p:nvSpPr>
        <p:spPr>
          <a:xfrm>
            <a:off x="585216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9" name="VS circle"/>
          <p:cNvSpPr/>
          <p:nvPr/>
        </p:nvSpPr>
        <p:spPr>
          <a:xfrm>
            <a:off x="4160520" y="228600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VS"/>
          <p:cNvSpPr txBox="1"/>
          <p:nvPr/>
        </p:nvSpPr>
        <p:spPr>
          <a:xfrm>
            <a:off x="41605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VS</a:t>
            </a:r>
            <a:endParaRPr lang="en-US" sz="2000" dirty="0"/>
          </a:p>
        </p:txBody>
      </p:sp>
      <p:sp>
        <p:nvSpPr>
          <p:cNvPr id="31" name="Model summary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Two-player, zero-sum game  |  payoffs defined from the attacker’s utility perspective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Illustrative Payoff Matrix</a:t>
            </a:r>
            <a:endParaRPr lang="en-US" sz="3400" dirty="0"/>
          </a:p>
        </p:txBody>
      </p:sp>
      <p:graphicFrame>
        <p:nvGraphicFramePr>
          <p:cNvPr id="6" name="Payoff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\ Defender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7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 targeting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attempt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DF0"/>
                    </a:solidFill>
                  </a:tcPr>
                </a:tc>
              </a:tr>
            </a:tbl>
          </a:graphicData>
        </a:graphic>
      </p:graphicFrame>
      <p:sp>
        <p:nvSpPr>
          <p:cNvPr id="4" name="Reading card"/>
          <p:cNvSpPr/>
          <p:nvPr/>
        </p:nvSpPr>
        <p:spPr>
          <a:xfrm>
            <a:off x="6217920" y="1280160"/>
            <a:ext cx="24688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ading heading"/>
          <p:cNvSpPr txBox="1"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read it</a:t>
            </a:r>
            <a:endParaRPr lang="en-US" sz="1600" dirty="0"/>
          </a:p>
        </p:txBody>
      </p:sp>
      <p:sp>
        <p:nvSpPr>
          <p:cNvPr id="6" name="Reading list"/>
          <p:cNvSpPr txBox="1"/>
          <p:nvPr/>
        </p:nvSpPr>
        <p:spPr>
          <a:xfrm>
            <a:off x="6400800" y="18288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cell is an attacker utility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Warm colors favor the attacker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Cool colors favor the defender</a:t>
            </a:r>
            <a:endParaRPr lang="en-US" sz="1400" dirty="0"/>
          </a:p>
        </p:txBody>
      </p:sp>
      <p:sp>
        <p:nvSpPr>
          <p:cNvPr id="7" name="Disclaimer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Values demonstrate the method; they are not real-world probabilities or measured losses.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Methodology &amp; Mathematics</a:t>
            </a:r>
            <a:endParaRPr lang="en-US" sz="34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"/>
          <p:cNvSpPr txBox="1"/>
          <p:nvPr/>
        </p:nvSpPr>
        <p:spPr>
          <a:xfrm>
            <a:off x="1097280" y="1234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Define the game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Players, actions and utility assumptions</a:t>
            </a:r>
            <a:endParaRPr lang="en-US" sz="1600" dirty="0"/>
          </a:p>
        </p:txBody>
      </p:sp>
      <p:sp>
        <p:nvSpPr>
          <p:cNvPr id="6" name="Step circle 2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number 2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"/>
          <p:cNvSpPr txBox="1"/>
          <p:nvPr/>
        </p:nvSpPr>
        <p:spPr>
          <a:xfrm>
            <a:off x="109728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matrix 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Attacker utility for every action pair</a:t>
            </a:r>
            <a:endParaRPr lang="en-US" sz="1600" dirty="0"/>
          </a:p>
        </p:txBody>
      </p:sp>
      <p:sp>
        <p:nvSpPr>
          <p:cNvPr id="9" name="Step circle 3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number 3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"/>
          <p:cNvSpPr txBox="1"/>
          <p:nvPr/>
        </p:nvSpPr>
        <p:spPr>
          <a:xfrm>
            <a:off x="109728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Solve the linear program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Optimal strategies p (attacker) and q (defender)</a:t>
            </a:r>
            <a:endParaRPr lang="en-US" sz="1600" dirty="0"/>
          </a:p>
        </p:txBody>
      </p:sp>
      <p:sp>
        <p:nvSpPr>
          <p:cNvPr id="12" name="Step circle 4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umber 4"/>
          <p:cNvSpPr txBox="1"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"/>
          <p:cNvSpPr txBox="1"/>
          <p:nvPr/>
        </p:nvSpPr>
        <p:spPr>
          <a:xfrm>
            <a:off x="109728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Compute expected utility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Evaluate E(p, q) at the optimum</a:t>
            </a:r>
            <a:endParaRPr lang="en-US" sz="1600" dirty="0"/>
          </a:p>
        </p:txBody>
      </p:sp>
      <p:sp>
        <p:nvSpPr>
          <p:cNvPr id="15" name="Step circle 5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ber 5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"/>
          <p:cNvSpPr txBox="1"/>
          <p:nvPr/>
        </p:nvSpPr>
        <p:spPr>
          <a:xfrm>
            <a:off x="109728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 scenarios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See how the equilibrium shifts</a:t>
            </a:r>
            <a:endParaRPr lang="en-US" sz="1600" dirty="0"/>
          </a:p>
        </p:txBody>
      </p:sp>
      <p:sp>
        <p:nvSpPr>
          <p:cNvPr id="18" name="Formula card"/>
          <p:cNvSpPr/>
          <p:nvPr/>
        </p:nvSpPr>
        <p:spPr>
          <a:xfrm>
            <a:off x="5852160" y="1280160"/>
            <a:ext cx="2834640" cy="3017520"/>
          </a:xfrm>
          <a:prstGeom prst="roundRect">
            <a:avLst>
              <a:gd name="adj" fmla="val 3226"/>
            </a:avLst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9" name="Formula label"/>
          <p:cNvSpPr txBox="1"/>
          <p:nvPr/>
        </p:nvSpPr>
        <p:spPr>
          <a:xfrm>
            <a:off x="608076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EXPECTED UTILITY</a:t>
            </a:r>
            <a:endParaRPr lang="en-US" sz="1200" dirty="0"/>
          </a:p>
        </p:txBody>
      </p:sp>
      <p:sp>
        <p:nvSpPr>
          <p:cNvPr id="20" name="Formula"/>
          <p:cNvSpPr txBox="1"/>
          <p:nvPr/>
        </p:nvSpPr>
        <p:spPr>
          <a:xfrm>
            <a:off x="608076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E(p, q) = pᵀAq</a:t>
            </a:r>
            <a:endParaRPr lang="en-US" sz="2800" dirty="0"/>
          </a:p>
        </p:txBody>
      </p:sp>
      <p:sp>
        <p:nvSpPr>
          <p:cNvPr id="21" name="Formula legend"/>
          <p:cNvSpPr txBox="1"/>
          <p:nvPr/>
        </p:nvSpPr>
        <p:spPr>
          <a:xfrm>
            <a:off x="60807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p: attacker’s mixed strategy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q: defender’s mixed strategy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A: payoff matrix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Layer row 1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yer label 1"/>
          <p:cNvSpPr/>
          <p:nvPr/>
        </p:nvSpPr>
        <p:spPr>
          <a:xfrm>
            <a:off x="457200" y="1234440"/>
            <a:ext cx="246888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ayer icon 1" descr="User inpu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292608" cy="292608"/>
          </a:xfrm>
          <a:prstGeom prst="rect">
            <a:avLst/>
          </a:prstGeom>
        </p:spPr>
      </p:pic>
      <p:sp>
        <p:nvSpPr>
          <p:cNvPr id="6" name="Layer name 1"/>
          <p:cNvSpPr txBox="1"/>
          <p:nvPr/>
        </p:nvSpPr>
        <p:spPr>
          <a:xfrm>
            <a:off x="1097280" y="12344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inputs</a:t>
            </a:r>
            <a:endParaRPr lang="en-US" sz="1600" dirty="0"/>
          </a:p>
        </p:txBody>
      </p:sp>
      <p:sp>
        <p:nvSpPr>
          <p:cNvPr id="7" name="Layer description 1"/>
          <p:cNvSpPr txBox="1"/>
          <p:nvPr/>
        </p:nvSpPr>
        <p:spPr>
          <a:xfrm>
            <a:off x="3108960" y="1234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Scenario settings entered through the Streamlit interface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 rot="10800000">
            <a:off x="1554480" y="1911096"/>
            <a:ext cx="274320" cy="109728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Layer row 2"/>
          <p:cNvSpPr/>
          <p:nvPr/>
        </p:nvSpPr>
        <p:spPr>
          <a:xfrm>
            <a:off x="457200" y="2039112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yer label 2"/>
          <p:cNvSpPr/>
          <p:nvPr/>
        </p:nvSpPr>
        <p:spPr>
          <a:xfrm>
            <a:off x="457200" y="2039112"/>
            <a:ext cx="246888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Layer icon 2" descr="Game eng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21992"/>
            <a:ext cx="292608" cy="292608"/>
          </a:xfrm>
          <a:prstGeom prst="rect">
            <a:avLst/>
          </a:prstGeom>
        </p:spPr>
      </p:pic>
      <p:sp>
        <p:nvSpPr>
          <p:cNvPr id="12" name="Layer name 2"/>
          <p:cNvSpPr txBox="1"/>
          <p:nvPr/>
        </p:nvSpPr>
        <p:spPr>
          <a:xfrm>
            <a:off x="1097280" y="20391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Game engine</a:t>
            </a:r>
            <a:endParaRPr lang="en-US" sz="1600" dirty="0"/>
          </a:p>
        </p:txBody>
      </p:sp>
      <p:sp>
        <p:nvSpPr>
          <p:cNvPr id="13" name="Layer description 2"/>
          <p:cNvSpPr txBox="1"/>
          <p:nvPr/>
        </p:nvSpPr>
        <p:spPr>
          <a:xfrm>
            <a:off x="3108960" y="20391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NumPy matrix operations and SciPy linear programming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 rot="10800000">
            <a:off x="1554480" y="2715768"/>
            <a:ext cx="274320" cy="109728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Layer row 3"/>
          <p:cNvSpPr/>
          <p:nvPr/>
        </p:nvSpPr>
        <p:spPr>
          <a:xfrm>
            <a:off x="457200" y="2843784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ayer label 3"/>
          <p:cNvSpPr/>
          <p:nvPr/>
        </p:nvSpPr>
        <p:spPr>
          <a:xfrm>
            <a:off x="457200" y="2843784"/>
            <a:ext cx="2468880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Layer icon 3" descr="Visualiz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26664"/>
            <a:ext cx="292608" cy="292608"/>
          </a:xfrm>
          <a:prstGeom prst="rect">
            <a:avLst/>
          </a:prstGeom>
        </p:spPr>
      </p:pic>
      <p:sp>
        <p:nvSpPr>
          <p:cNvPr id="18" name="Layer name 3"/>
          <p:cNvSpPr txBox="1"/>
          <p:nvPr/>
        </p:nvSpPr>
        <p:spPr>
          <a:xfrm>
            <a:off x="1097280" y="284378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Visualization</a:t>
            </a:r>
            <a:endParaRPr lang="en-US" sz="1600" dirty="0"/>
          </a:p>
        </p:txBody>
      </p:sp>
      <p:sp>
        <p:nvSpPr>
          <p:cNvPr id="19" name="Layer description 3"/>
          <p:cNvSpPr txBox="1"/>
          <p:nvPr/>
        </p:nvSpPr>
        <p:spPr>
          <a:xfrm>
            <a:off x="3108960" y="284378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Matplotlib heatmap and scenario comparison chart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 rot="10800000">
            <a:off x="1554480" y="3520440"/>
            <a:ext cx="274320" cy="109728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Layer row 4"/>
          <p:cNvSpPr/>
          <p:nvPr/>
        </p:nvSpPr>
        <p:spPr>
          <a:xfrm>
            <a:off x="457200" y="3648456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ayer label 4"/>
          <p:cNvSpPr/>
          <p:nvPr/>
        </p:nvSpPr>
        <p:spPr>
          <a:xfrm>
            <a:off x="457200" y="3648456"/>
            <a:ext cx="2468880" cy="658368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Layer icon 4" descr="Outpu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831336"/>
            <a:ext cx="292608" cy="292608"/>
          </a:xfrm>
          <a:prstGeom prst="rect">
            <a:avLst/>
          </a:prstGeom>
        </p:spPr>
      </p:pic>
      <p:sp>
        <p:nvSpPr>
          <p:cNvPr id="24" name="Layer name 4"/>
          <p:cNvSpPr txBox="1"/>
          <p:nvPr/>
        </p:nvSpPr>
        <p:spPr>
          <a:xfrm>
            <a:off x="1097280" y="36484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Outputs</a:t>
            </a:r>
            <a:endParaRPr lang="en-US" sz="1600" dirty="0"/>
          </a:p>
        </p:txBody>
      </p:sp>
      <p:sp>
        <p:nvSpPr>
          <p:cNvPr id="25" name="Layer description 4"/>
          <p:cNvSpPr txBox="1"/>
          <p:nvPr/>
        </p:nvSpPr>
        <p:spPr>
          <a:xfrm>
            <a:off x="3108960" y="36484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Strategy probabilities, equilibrium value, saddle-point check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 &amp; Tools</a:t>
            </a:r>
            <a:endParaRPr lang="en-US" sz="3400" dirty="0"/>
          </a:p>
        </p:txBody>
      </p:sp>
      <p:sp>
        <p:nvSpPr>
          <p:cNvPr id="3" name="Tool card Python 3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 icon Python 3 circl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5" name="Tool icon Python 3" descr="Tool icon Python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88770"/>
            <a:ext cx="251460" cy="251460"/>
          </a:xfrm>
          <a:prstGeom prst="rect">
            <a:avLst/>
          </a:prstGeom>
        </p:spPr>
      </p:pic>
      <p:sp>
        <p:nvSpPr>
          <p:cNvPr id="6" name="Tool name Python 3"/>
          <p:cNvSpPr txBox="1"/>
          <p:nvPr/>
        </p:nvSpPr>
        <p:spPr>
          <a:xfrm>
            <a:off x="132588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3</a:t>
            </a:r>
            <a:endParaRPr lang="en-US" sz="1800" dirty="0"/>
          </a:p>
        </p:txBody>
      </p:sp>
      <p:sp>
        <p:nvSpPr>
          <p:cNvPr id="7" name="Tool description Python 3"/>
          <p:cNvSpPr txBox="1"/>
          <p:nvPr/>
        </p:nvSpPr>
        <p:spPr>
          <a:xfrm>
            <a:off x="6858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Main implementation language</a:t>
            </a:r>
            <a:endParaRPr lang="en-US" sz="1400" dirty="0"/>
          </a:p>
        </p:txBody>
      </p:sp>
      <p:sp>
        <p:nvSpPr>
          <p:cNvPr id="8" name="Tool card NumPy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 icon NumPy circle"/>
          <p:cNvSpPr/>
          <p:nvPr/>
        </p:nvSpPr>
        <p:spPr>
          <a:xfrm>
            <a:off x="3520440" y="1463040"/>
            <a:ext cx="502920" cy="502920"/>
          </a:xfrm>
          <a:prstGeom prst="ellipse">
            <a:avLst/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pic>
        <p:nvPicPr>
          <p:cNvPr id="10" name="Tool icon NumPy" descr="Tool icon NumP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588770"/>
            <a:ext cx="251460" cy="251460"/>
          </a:xfrm>
          <a:prstGeom prst="rect">
            <a:avLst/>
          </a:prstGeom>
        </p:spPr>
      </p:pic>
      <p:sp>
        <p:nvSpPr>
          <p:cNvPr id="11" name="Tool name NumPy"/>
          <p:cNvSpPr txBox="1"/>
          <p:nvPr/>
        </p:nvSpPr>
        <p:spPr>
          <a:xfrm>
            <a:off x="416052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NumPy</a:t>
            </a:r>
            <a:endParaRPr lang="en-US" sz="1800" dirty="0"/>
          </a:p>
        </p:txBody>
      </p:sp>
      <p:sp>
        <p:nvSpPr>
          <p:cNvPr id="12" name="Tool description NumPy"/>
          <p:cNvSpPr txBox="1"/>
          <p:nvPr/>
        </p:nvSpPr>
        <p:spPr>
          <a:xfrm>
            <a:off x="35204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Matrix representation and numerical calculations</a:t>
            </a:r>
            <a:endParaRPr lang="en-US" sz="1400" dirty="0"/>
          </a:p>
        </p:txBody>
      </p:sp>
      <p:sp>
        <p:nvSpPr>
          <p:cNvPr id="13" name="Tool card SciPy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 icon SciPy circle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5" name="Tool icon SciPy" descr="Tool icon SciP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588770"/>
            <a:ext cx="251460" cy="251460"/>
          </a:xfrm>
          <a:prstGeom prst="rect">
            <a:avLst/>
          </a:prstGeom>
        </p:spPr>
      </p:pic>
      <p:sp>
        <p:nvSpPr>
          <p:cNvPr id="16" name="Tool name SciPy"/>
          <p:cNvSpPr txBox="1"/>
          <p:nvPr/>
        </p:nvSpPr>
        <p:spPr>
          <a:xfrm>
            <a:off x="699516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SciPy</a:t>
            </a:r>
            <a:endParaRPr lang="en-US" sz="1800" dirty="0"/>
          </a:p>
        </p:txBody>
      </p:sp>
      <p:sp>
        <p:nvSpPr>
          <p:cNvPr id="17" name="Tool description SciPy"/>
          <p:cNvSpPr txBox="1"/>
          <p:nvPr/>
        </p:nvSpPr>
        <p:spPr>
          <a:xfrm>
            <a:off x="63550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Linear-programming optimization</a:t>
            </a:r>
            <a:endParaRPr lang="en-US" sz="1400" dirty="0"/>
          </a:p>
        </p:txBody>
      </p:sp>
      <p:sp>
        <p:nvSpPr>
          <p:cNvPr id="18" name="Tool card Pandas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 icon Pandas circle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pic>
        <p:nvPicPr>
          <p:cNvPr id="20" name="Tool icon Pandas" descr="Tool icon Pan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34690"/>
            <a:ext cx="251460" cy="251460"/>
          </a:xfrm>
          <a:prstGeom prst="rect">
            <a:avLst/>
          </a:prstGeom>
        </p:spPr>
      </p:pic>
      <p:sp>
        <p:nvSpPr>
          <p:cNvPr id="21" name="Tool name Pandas"/>
          <p:cNvSpPr txBox="1"/>
          <p:nvPr/>
        </p:nvSpPr>
        <p:spPr>
          <a:xfrm>
            <a:off x="132588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Pandas</a:t>
            </a:r>
            <a:endParaRPr lang="en-US" sz="1800" dirty="0"/>
          </a:p>
        </p:txBody>
      </p:sp>
      <p:sp>
        <p:nvSpPr>
          <p:cNvPr id="22" name="Tool description Pandas"/>
          <p:cNvSpPr txBox="1"/>
          <p:nvPr/>
        </p:nvSpPr>
        <p:spPr>
          <a:xfrm>
            <a:off x="685800" y="3749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 tables of payoffs and results</a:t>
            </a:r>
            <a:endParaRPr lang="en-US" sz="1400" dirty="0"/>
          </a:p>
        </p:txBody>
      </p:sp>
      <p:sp>
        <p:nvSpPr>
          <p:cNvPr id="23" name="Tool card Matplotlib + Streamlit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ol icon Matplotlib + Streamlit circle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E5575B"/>
          </a:solidFill>
          <a:ln w="12700">
            <a:solidFill>
              <a:srgbClr val="E5575B"/>
            </a:solidFill>
            <a:prstDash val="solid"/>
          </a:ln>
        </p:spPr>
      </p:sp>
      <p:pic>
        <p:nvPicPr>
          <p:cNvPr id="25" name="Tool icon Matplotlib + Streamlit" descr="Tool icon Matplotlib + Streaml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490" y="3234690"/>
            <a:ext cx="251460" cy="251460"/>
          </a:xfrm>
          <a:prstGeom prst="rect">
            <a:avLst/>
          </a:prstGeom>
        </p:spPr>
      </p:pic>
      <p:sp>
        <p:nvSpPr>
          <p:cNvPr id="26" name="Tool name Matplotlib + Streamlit"/>
          <p:cNvSpPr txBox="1"/>
          <p:nvPr/>
        </p:nvSpPr>
        <p:spPr>
          <a:xfrm>
            <a:off x="55778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Matplotlib + Streamlit</a:t>
            </a:r>
            <a:endParaRPr lang="en-US" sz="1800" dirty="0"/>
          </a:p>
        </p:txBody>
      </p:sp>
      <p:sp>
        <p:nvSpPr>
          <p:cNvPr id="27" name="Tool description Matplotlib + Streamlit"/>
          <p:cNvSpPr txBox="1"/>
          <p:nvPr/>
        </p:nvSpPr>
        <p:spPr>
          <a:xfrm>
            <a:off x="4937760" y="3749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Visual analytics and an interactive web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 &amp; Demonstration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8872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tat card 1"/>
          <p:cNvSpPr/>
          <p:nvPr/>
        </p:nvSpPr>
        <p:spPr>
          <a:xfrm>
            <a:off x="457200" y="365760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59436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1.09</a:t>
            </a:r>
            <a:endParaRPr lang="en-US" sz="2400" dirty="0"/>
          </a:p>
        </p:txBody>
      </p:sp>
      <p:sp>
        <p:nvSpPr>
          <p:cNvPr id="7" name="Stat label 1"/>
          <p:cNvSpPr txBox="1"/>
          <p:nvPr/>
        </p:nvSpPr>
        <p:spPr>
          <a:xfrm>
            <a:off x="5943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Equilibrium utility (attacker’s view)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3291840" y="365760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34290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−2 ≠ 2</a:t>
            </a:r>
            <a:endParaRPr lang="en-US" sz="2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4290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Maximin ≠ minimax: no pure saddle point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365760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26364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Not a breach rate</a:t>
            </a:r>
            <a:endParaRPr lang="en-US" sz="18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2636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Payoff is a utility score, not a probability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Applications, Limitations &amp; Future Work</a:t>
            </a:r>
            <a:endParaRPr lang="en-US" sz="3400" dirty="0"/>
          </a:p>
        </p:txBody>
      </p:sp>
      <p:sp>
        <p:nvSpPr>
          <p:cNvPr id="3" name="Card Applications"/>
          <p:cNvSpPr/>
          <p:nvPr/>
        </p:nvSpPr>
        <p:spPr>
          <a:xfrm>
            <a:off x="457200" y="12801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Applications circl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pic>
        <p:nvPicPr>
          <p:cNvPr id="5" name="Icon Applications" descr="Icon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88770"/>
            <a:ext cx="251460" cy="251460"/>
          </a:xfrm>
          <a:prstGeom prst="rect">
            <a:avLst/>
          </a:prstGeom>
        </p:spPr>
      </p:pic>
      <p:sp>
        <p:nvSpPr>
          <p:cNvPr id="6" name="Heading Applications"/>
          <p:cNvSpPr txBox="1"/>
          <p:nvPr/>
        </p:nvSpPr>
        <p:spPr>
          <a:xfrm>
            <a:off x="132588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Applications</a:t>
            </a:r>
            <a:endParaRPr lang="en-US" sz="1800" dirty="0"/>
          </a:p>
        </p:txBody>
      </p:sp>
      <p:sp>
        <p:nvSpPr>
          <p:cNvPr id="7" name="List Applications"/>
          <p:cNvSpPr txBox="1"/>
          <p:nvPr/>
        </p:nvSpPr>
        <p:spPr>
          <a:xfrm>
            <a:off x="68580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Security planning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Training exercises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Resource allocation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Strategic risk discussions</a:t>
            </a:r>
            <a:endParaRPr lang="en-US" sz="1400" dirty="0"/>
          </a:p>
        </p:txBody>
      </p:sp>
      <p:sp>
        <p:nvSpPr>
          <p:cNvPr id="8" name="Card Limitations"/>
          <p:cNvSpPr/>
          <p:nvPr/>
        </p:nvSpPr>
        <p:spPr>
          <a:xfrm>
            <a:off x="3291840" y="12801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Limitations circle"/>
          <p:cNvSpPr/>
          <p:nvPr/>
        </p:nvSpPr>
        <p:spPr>
          <a:xfrm>
            <a:off x="3520440" y="1463040"/>
            <a:ext cx="502920" cy="5029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0" name="Icon Limitations" descr="Icon Limi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588770"/>
            <a:ext cx="251460" cy="251460"/>
          </a:xfrm>
          <a:prstGeom prst="rect">
            <a:avLst/>
          </a:prstGeom>
        </p:spPr>
      </p:pic>
      <p:sp>
        <p:nvSpPr>
          <p:cNvPr id="11" name="Heading Limitations"/>
          <p:cNvSpPr txBox="1"/>
          <p:nvPr/>
        </p:nvSpPr>
        <p:spPr>
          <a:xfrm>
            <a:off x="41605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List Limitations"/>
          <p:cNvSpPr txBox="1"/>
          <p:nvPr/>
        </p:nvSpPr>
        <p:spPr>
          <a:xfrm>
            <a:off x="352044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Hypothetical utilities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Rational players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Complete knowledge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Zero-sum assumption</a:t>
            </a:r>
            <a:endParaRPr lang="en-US" sz="1400" dirty="0"/>
          </a:p>
        </p:txBody>
      </p:sp>
      <p:sp>
        <p:nvSpPr>
          <p:cNvPr id="13" name="Card Future work"/>
          <p:cNvSpPr/>
          <p:nvPr/>
        </p:nvSpPr>
        <p:spPr>
          <a:xfrm>
            <a:off x="6126480" y="12801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Future work circle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15" name="Icon Future work" descr="Icon Future 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588770"/>
            <a:ext cx="251460" cy="251460"/>
          </a:xfrm>
          <a:prstGeom prst="rect">
            <a:avLst/>
          </a:prstGeom>
        </p:spPr>
      </p:pic>
      <p:sp>
        <p:nvSpPr>
          <p:cNvPr id="16" name="Heading Future work"/>
          <p:cNvSpPr txBox="1"/>
          <p:nvPr/>
        </p:nvSpPr>
        <p:spPr>
          <a:xfrm>
            <a:off x="699516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7" name="List Future work"/>
          <p:cNvSpPr txBox="1"/>
          <p:nvPr/>
        </p:nvSpPr>
        <p:spPr>
          <a:xfrm>
            <a:off x="635508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Bayesian games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Repeated interactions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Uncertainty ranges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Data-supported utilities</a:t>
            </a:r>
            <a:endParaRPr lang="en-US" sz="1400" dirty="0"/>
          </a:p>
        </p:txBody>
      </p:sp>
      <p:sp>
        <p:nvSpPr>
          <p:cNvPr id="18" name="Safety note pill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afety note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prototype does not scan networks or execute attacks.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icon 1 circle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pic>
        <p:nvPicPr>
          <p:cNvPr id="4" name="Conclusion icon 1" descr="Conclus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74320" cy="274320"/>
          </a:xfrm>
          <a:prstGeom prst="rect">
            <a:avLst/>
          </a:prstGeom>
        </p:spPr>
      </p:pic>
      <p:sp>
        <p:nvSpPr>
          <p:cNvPr id="5" name="Conclusion point 1"/>
          <p:cNvSpPr txBox="1"/>
          <p:nvPr/>
        </p:nvSpPr>
        <p:spPr>
          <a:xfrm>
            <a:off x="1234440" y="1280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Structure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Game theory frames attacker–defender decision-making.</a:t>
            </a:r>
            <a:endParaRPr lang="en-US" sz="1800" dirty="0"/>
          </a:p>
        </p:txBody>
      </p:sp>
      <p:sp>
        <p:nvSpPr>
          <p:cNvPr id="6" name="Conclusion icon 2 circle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pic>
        <p:nvPicPr>
          <p:cNvPr id="7" name="Conclusion icon 2" descr="Conclus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14600"/>
            <a:ext cx="274320" cy="274320"/>
          </a:xfrm>
          <a:prstGeom prst="rect">
            <a:avLst/>
          </a:prstGeom>
        </p:spPr>
      </p:pic>
      <p:sp>
        <p:nvSpPr>
          <p:cNvPr id="8" name="Conclusion point 2"/>
          <p:cNvSpPr txBox="1"/>
          <p:nvPr/>
        </p:nvSpPr>
        <p:spPr>
          <a:xfrm>
            <a:off x="123444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Compute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Linear programming yields equilibrium mixed strategies.</a:t>
            </a:r>
            <a:endParaRPr lang="en-US" sz="1800" dirty="0"/>
          </a:p>
        </p:txBody>
      </p:sp>
      <p:sp>
        <p:nvSpPr>
          <p:cNvPr id="9" name="Conclusion icon 3 circle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pic>
        <p:nvPicPr>
          <p:cNvPr id="10" name="Conclusion icon 3" descr="Conclus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0440"/>
            <a:ext cx="274320" cy="274320"/>
          </a:xfrm>
          <a:prstGeom prst="rect">
            <a:avLst/>
          </a:prstGeom>
        </p:spPr>
      </p:pic>
      <p:sp>
        <p:nvSpPr>
          <p:cNvPr id="11" name="Conclusion point 3"/>
          <p:cNvSpPr txBox="1"/>
          <p:nvPr/>
        </p:nvSpPr>
        <p:spPr>
          <a:xfrm>
            <a:off x="1234440" y="3291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The dashboard lets users compare defensive scenarios.</a:t>
            </a:r>
            <a:endParaRPr lang="en-US" sz="1800" dirty="0"/>
          </a:p>
        </p:txBody>
      </p:sp>
      <p:sp>
        <p:nvSpPr>
          <p:cNvPr id="12" name="Takeaway card"/>
          <p:cNvSpPr/>
          <p:nvPr/>
        </p:nvSpPr>
        <p:spPr>
          <a:xfrm>
            <a:off x="5486400" y="128016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2BB6BD"/>
          </a:solidFill>
          <a:ln w="12700">
            <a:solidFill>
              <a:srgbClr val="2BB6BD"/>
            </a:solidFill>
            <a:prstDash val="solid"/>
          </a:ln>
        </p:spPr>
      </p:sp>
      <p:sp>
        <p:nvSpPr>
          <p:cNvPr id="13" name="Takeaway label"/>
          <p:cNvSpPr txBox="1"/>
          <p:nvPr/>
        </p:nvSpPr>
        <p:spPr>
          <a:xfrm>
            <a:off x="57150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MAIN TAKEAWAY</a:t>
            </a:r>
            <a:endParaRPr lang="en-US" sz="1200" dirty="0"/>
          </a:p>
        </p:txBody>
      </p:sp>
      <p:sp>
        <p:nvSpPr>
          <p:cNvPr id="14" name="Takeaway text"/>
          <p:cNvSpPr txBox="1"/>
          <p:nvPr/>
        </p:nvSpPr>
        <p:spPr>
          <a:xfrm>
            <a:off x="5715000" y="1874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Security decisions should consider how an intelligent adversary may respond.</a:t>
            </a:r>
            <a:endParaRPr lang="en-US" sz="2000" dirty="0"/>
          </a:p>
        </p:txBody>
      </p:sp>
      <p:sp>
        <p:nvSpPr>
          <p:cNvPr id="15" name="Thank you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  |  Aarushi Jain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Game Theory">
  <a:themeElements>
    <a:clrScheme name="Cyber Game Theory">
      <a:dk1>
        <a:srgbClr val="0B1730"/>
      </a:dk1>
      <a:lt1>
        <a:srgbClr val="FFFFFF"/>
      </a:lt1>
      <a:dk2>
        <a:srgbClr val="14284B"/>
      </a:dk2>
      <a:lt2>
        <a:srgbClr val="EEF3FA"/>
      </a:lt2>
      <a:accent1>
        <a:srgbClr val="2F6FD0"/>
      </a:accent1>
      <a:accent2>
        <a:srgbClr val="2BB6BD"/>
      </a:accent2>
      <a:accent3>
        <a:srgbClr val="F2A33A"/>
      </a:accent3>
      <a:accent4>
        <a:srgbClr val="E5575B"/>
      </a:accent4>
      <a:accent5>
        <a:srgbClr val="6B7A99"/>
      </a:accent5>
      <a:accent6>
        <a:srgbClr val="4CAF7D"/>
      </a:accent6>
      <a:hlink>
        <a:srgbClr val="2F6FD0"/>
      </a:hlink>
      <a:folHlink>
        <a:srgbClr val="6B7A99"/>
      </a:folHlink>
    </a:clrScheme>
    <a:fontScheme name="Cyber Game Theo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Game-Theoretic Analysis of Cyber Attack and Defense Strategies</dc:title>
  <dc:subject>PptxGenJS Presentation</dc:subject>
  <dc:creator>Aarushi Jain</dc:creator>
  <cp:lastModifiedBy>Aarushi Jain</cp:lastModifiedBy>
  <cp:revision>1</cp:revision>
  <dcterms:created xsi:type="dcterms:W3CDTF">2026-10-18T06:22:18Z</dcterms:created>
  <dcterms:modified xsi:type="dcterms:W3CDTF">2026-10-18T06:22:18Z</dcterms:modified>
</cp:coreProperties>
</file>